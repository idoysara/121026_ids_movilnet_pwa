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43F5E"/>
                </a:solidFill>
              </a:defRPr>
            </a:pPr>
            <a:r>
              <a:t>VICEPRESIDENCIA DE MERCADEO, MARCA, PRODUCTO &amp; GROWTH</a:t>
            </a:r>
          </a:p>
          <a:p>
            <a:pPr>
              <a:spcBef>
                <a:spcPts val="800"/>
              </a:spcBef>
              <a:defRPr sz="3300" b="1">
                <a:solidFill>
                  <a:srgbClr val="FFFFFF"/>
                </a:solidFill>
              </a:defRPr>
            </a:pPr>
            <a:r>
              <a:t>MOVI 4GMAX: El Protagonista Principal</a:t>
            </a:r>
          </a:p>
          <a:p>
            <a:pPr>
              <a:spcBef>
                <a:spcPts val="800"/>
              </a:spcBef>
              <a:defRPr sz="1500">
                <a:solidFill>
                  <a:srgbClr val="CBD5E1"/>
                </a:solidFill>
              </a:defRPr>
            </a:pPr>
            <a:r>
              <a:t>Estrategia de Activación POP, Tours Movilnet, Ecosistema Digital y Monetización Comercial en Tiempo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TASA DE APERTURA</a:t>
            </a:r>
          </a:p>
          <a:p>
            <a:pPr>
              <a:spcBef>
                <a:spcPts val="400"/>
              </a:spcBef>
              <a:defRPr sz="2200" b="1">
                <a:solidFill>
                  <a:srgbClr val="F43F5E"/>
                </a:solidFill>
              </a:defRPr>
            </a:pPr>
            <a:r>
              <a:t>98.2%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WhatsApp vs 12.4% en SMS tradicional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TASA DE CONVERSIÓN</a:t>
            </a:r>
          </a:p>
          <a:p>
            <a:pPr>
              <a:spcBef>
                <a:spcPts val="400"/>
              </a:spcBef>
              <a:defRPr sz="2200" b="1">
                <a:solidFill>
                  <a:srgbClr val="F59E0B"/>
                </a:solidFill>
              </a:defRPr>
            </a:pPr>
            <a:r>
              <a:t>8.7%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Ofertas contextuales Next-Best-Action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CHECKOUT C2P</a:t>
            </a:r>
          </a:p>
          <a:p>
            <a:pPr>
              <a:spcBef>
                <a:spcPts val="400"/>
              </a:spcBef>
              <a:defRPr sz="2200" b="1">
                <a:solidFill>
                  <a:srgbClr val="10B981"/>
                </a:solidFill>
              </a:defRPr>
            </a:pPr>
            <a:r>
              <a:t>12 Segundos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Recarga sin salir de la conversación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4389120"/>
            <a:ext cx="2560320" cy="164592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PRESENCIA EN CALLE</a:t>
            </a:r>
          </a:p>
          <a:p>
            <a:pPr>
              <a:spcBef>
                <a:spcPts val="400"/>
              </a:spcBef>
              <a:defRPr sz="2200" b="1">
                <a:solidFill>
                  <a:srgbClr val="0EA5E9"/>
                </a:solidFill>
              </a:defRPr>
            </a:pPr>
            <a:r>
              <a:t>Tours Movilnet</a:t>
            </a:r>
          </a:p>
          <a:p>
            <a:pPr>
              <a:spcBef>
                <a:spcPts val="400"/>
              </a:spcBef>
              <a:defRPr sz="900">
                <a:solidFill>
                  <a:srgbClr val="CBD5E1"/>
                </a:solidFill>
              </a:defRPr>
            </a:pPr>
            <a:r>
              <a:t>Tarimas, POP, ferias y redes masivas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ESTRATEGIA DE MARCA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El Rol Soberano de Mercadeo: Aporte en Canales y Difusión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Movilnet no desembolsa fondos en efectivo: el capital tecnológico ($450k) lo aporta el inversionista.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320040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🎯 EL PODER DEL APORTE DE MERCADEO DE MOVILNET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Base Cautiva de 4.2M de Usuarios: Acceso exclusivo y directo para campañas conversacionales sin pagar pauta publicitaria en Google o Meta.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Despliegue Nacional de Material POP: Producción y colocación de banderines oficiales, pendones, habladores en taquillas y tótems interactivos.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Presencia en Tours Movilnet: Caravanas y tarimas en regiones, plazas y municipios cubiertas por el presupuesto habitual de Mercadeo.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Ecosistema Digital Oficial: Banner principal en www.movilnet.com.ve, difusión viral en Instagram, TikTok, X y SMS push.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Protagonismo Absoluto: MOVI es la cara visible de la operadora, humanizando y modernizando la marca nacional.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PUNTOS DE VENTA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Despliegue de Material POP en Agentes y Tiendas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Transformar las oficinas físicas en canales de autogestión digital en 12 segundos.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E62020"/>
                </a:solidFill>
              </a:defRPr>
            </a:pPr>
            <a:r>
              <a:t>1. Banderines Corporativos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Fachada de Tiendas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Identificación oficial en la red de agentes comerciales y oficinas Movilnet anunciando a MOVI.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2. Pendones de Alto Impacto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Zonas de Entrada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'Recarga en 12 segundos por WhatsApp con MOVI — Sin filas ni esperas'.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3. Habladores en Taquillas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Puntos de Cobro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Código QR dinámico que permite al usuario que espera en fila recargar o consultar saldo en su propio teléfono.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4. Tótems Interactivos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Centros Comerciales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Tabletas de demostración en centros de alto tráfico peatonal para probar la PWA 4GMAX sin consumo de datos.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ACTIVACIÓN EN CALLE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Tours Movilnet: Caravanas en Plazas, Regiones y Ferias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Presencia física directa con tarima interactiva y trivias de IA cubiertas 100% por Movilnet.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Caravanas Regionales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Demostraciones en Vivo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Activación en tarimas públicas en plazas Bolívar y centros comunitarios.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Los promotores retan a los asistentes a recargar saldo en vivo en &lt;15s.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Conexión por WhatsApp (+58 424 153 3712) y portal PWA 4GMAX.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Cobertura logística y viáticos cubiertos por Mercadeo Movilnet.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Trivias &amp; Gamificación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Premios y Participación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Trivias conducidas por MOVI vía WhatsApp sobre cultura, deportes y tecnología.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Asignación automática de bolsas de Extra Datos y cupones retail.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Captura de teléfonos y geolocalización consentida del usuario.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Dinamización de la comunidad juvenil y estudiantil.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Ferias y Congresos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Presencia Institucional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Participación en FITVEN, ferias tecnológicas y congresos de telecomunicaciones.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Stands interactivos con Inteligencia Artificial soberana.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Demostración de soberanía tecnológica y modernización pública.</a:t>
            </a:r>
          </a:p>
          <a:p>
            <a:pPr>
              <a:spcBef>
                <a:spcPts val="900"/>
              </a:spcBef>
              <a:defRPr sz="950">
                <a:solidFill>
                  <a:srgbClr val="CBD5E1"/>
                </a:solidFill>
              </a:defRPr>
            </a:pPr>
            <a:r>
              <a:t>• Ruedas de negocios con grandes retailers para Cazador de Ofertas.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ECOSISTEMA DIGITAL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Canales Digitales Oficiales y Campañas Virales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Integración en el portal web oficial, redes sociales masivas y difusión push por SMS.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E62020"/>
                </a:solidFill>
              </a:defRPr>
            </a:pPr>
            <a:r>
              <a:t>Web movilnet.com.ve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Hero Banner Principal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Banner interactivo en la portada oficial con llamada a la acción directa a WhatsApp y PWA.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Redes Sociales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Instagram, TikTok, X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Reels cortos mostrando recargas en 12s, comprobantes OCR escaneados y cupones retail.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Campañas Push SMS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Difusión a los 4.2M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Mensajes institucionales con enlaces directos al chat oficial sin consumo de saldo.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Bono Freemium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Captación Competencia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1.000 tokens de IA gratis para líneas 0414/0424 y 0412 para migrar a eSIM Movilnet.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MONETIZACIÓN COMERCIAL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Las 5 Fuentes Directas de Ingresos Atribuibles a Mercadeo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Dónde y cómo se generan ingresos reales en caja a través de las campañas.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Extra Datos (Upselling)</a:t>
            </a:r>
          </a:p>
          <a:p>
            <a:pPr>
              <a:spcBef>
                <a:spcPts val="300"/>
              </a:spcBef>
              <a:defRPr sz="1800" b="1">
                <a:solidFill>
                  <a:srgbClr val="F43F5E"/>
                </a:solidFill>
              </a:defRPr>
            </a:pPr>
            <a:r>
              <a:t>$840k / Año 1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Detección predictiva cuando restan &lt;200 MB. Oferta automática con tasa de conversión del 8.7%.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Frecuencia C2P</a:t>
            </a:r>
          </a:p>
          <a:p>
            <a:pPr>
              <a:spcBef>
                <a:spcPts val="300"/>
              </a:spcBef>
              <a:defRPr sz="1800" b="1">
                <a:solidFill>
                  <a:srgbClr val="0EA5E9"/>
                </a:solidFill>
              </a:defRPr>
            </a:pPr>
            <a:r>
              <a:t>+$1.35 ARPU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Recarga sin fricción bancaria en 12 seg. El abonado pasa de 2.1 a 3.8 recargas al 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Retail Media Cazador</a:t>
            </a:r>
          </a:p>
          <a:p>
            <a:pPr>
              <a:spcBef>
                <a:spcPts val="300"/>
              </a:spcBef>
              <a:defRPr sz="1800" b="1">
                <a:solidFill>
                  <a:srgbClr val="F59E0B"/>
                </a:solidFill>
              </a:defRPr>
            </a:pPr>
            <a:r>
              <a:t>$420k / Año 1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56 cadenas aliadas. Split publicitario 20/80 ($0.40 USD netos por cupón canjeado).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Conquista de Competencia</a:t>
            </a:r>
          </a:p>
          <a:p>
            <a:pPr>
              <a:spcBef>
                <a:spcPts val="300"/>
              </a:spcBef>
              <a:defRPr sz="1800" b="1">
                <a:solidFill>
                  <a:srgbClr val="A855F7"/>
                </a:solidFill>
              </a:defRPr>
            </a:pPr>
            <a:r>
              <a:t>120.000 Líneas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Captación de Movistar/Digitel vía bono Freemium y Portabilidad Express eSIM en 3 minutos.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52578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Carrier Billing &amp; LVBP</a:t>
            </a:r>
          </a:p>
          <a:p>
            <a:pPr>
              <a:spcBef>
                <a:spcPts val="300"/>
              </a:spcBef>
              <a:defRPr sz="1800" b="1">
                <a:solidFill>
                  <a:srgbClr val="10B981"/>
                </a:solidFill>
              </a:defRPr>
            </a:pPr>
            <a:r>
              <a:t>15% - 25% Fee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Paquetes temáticos y cobro a saldo de streaming, deportes y juegos móviles.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FUNNEL DE CONVERSIÓN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El Embudo Conversacional en 12 Segundos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Cómo la IA acompaña al usuario en su propio chat sin carritos abandonados.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PASO 1: TOFU (0s)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Consulta Pasiva</a:t>
            </a:r>
          </a:p>
          <a:p>
            <a:pPr>
              <a:spcBef>
                <a:spcPts val="1200"/>
              </a:spcBef>
              <a:defRPr sz="950" i="1">
                <a:solidFill>
                  <a:srgbClr val="E2E8F0"/>
                </a:solidFill>
              </a:defRPr>
            </a:pPr>
            <a:r>
              <a:t>"Usuario: 'Hola, ¿cuántos megas me quedan?'"</a:t>
            </a:r>
          </a:p>
          <a:p>
            <a:pPr>
              <a:spcBef>
                <a:spcPts val="1200"/>
              </a:spcBef>
              <a:defRPr sz="900">
                <a:solidFill>
                  <a:srgbClr val="94A3B8"/>
                </a:solidFill>
              </a:defRPr>
            </a:pPr>
            <a:r>
              <a:t>El usuario busca información rutinaria sin intención de compra inicial.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PASO 2: MOFU (3s)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Diagnóstico con Urgencia</a:t>
            </a:r>
          </a:p>
          <a:p>
            <a:pPr>
              <a:spcBef>
                <a:spcPts val="1200"/>
              </a:spcBef>
              <a:defRPr sz="950" i="1">
                <a:solidFill>
                  <a:srgbClr val="E2E8F0"/>
                </a:solidFill>
              </a:defRPr>
            </a:pPr>
            <a:r>
              <a:t>"MOVI: 'Te quedan 180 MB y vence en 14 días. Los vas a agotar hoy.'"</a:t>
            </a:r>
          </a:p>
          <a:p>
            <a:pPr>
              <a:spcBef>
                <a:spcPts val="1200"/>
              </a:spcBef>
              <a:defRPr sz="900">
                <a:solidFill>
                  <a:srgbClr val="94A3B8"/>
                </a:solidFill>
              </a:defRPr>
            </a:pPr>
            <a:r>
              <a:t>El sistema crea conciencia de la necesidad antes de que quede desconectado.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PASO 3: BOFU (6s)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Oferta Irresistible (CTA)</a:t>
            </a:r>
          </a:p>
          <a:p>
            <a:pPr>
              <a:spcBef>
                <a:spcPts val="1200"/>
              </a:spcBef>
              <a:defRPr sz="950" i="1">
                <a:solidFill>
                  <a:srgbClr val="E2E8F0"/>
                </a:solidFill>
              </a:defRPr>
            </a:pPr>
            <a:r>
              <a:t>"MOVI: '¿Deseas activar Extra Datos 2GB por solo Bs. 45 con 1 clic?'"</a:t>
            </a:r>
          </a:p>
          <a:p>
            <a:pPr>
              <a:spcBef>
                <a:spcPts val="1200"/>
              </a:spcBef>
              <a:defRPr sz="900">
                <a:solidFill>
                  <a:srgbClr val="94A3B8"/>
                </a:solidFill>
              </a:defRPr>
            </a:pPr>
            <a:r>
              <a:t>Solución con precio exacto y botón directo de compra.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PASO 4: CIERRE (12s)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Pago Inmediato C2P</a:t>
            </a:r>
          </a:p>
          <a:p>
            <a:pPr>
              <a:spcBef>
                <a:spcPts val="1200"/>
              </a:spcBef>
              <a:defRPr sz="950" i="1">
                <a:solidFill>
                  <a:srgbClr val="E2E8F0"/>
                </a:solidFill>
              </a:defRPr>
            </a:pPr>
            <a:r>
              <a:t>"Sistema: '¡Acreditación Exitosa! Ref: 894125 • +2 GB disponibles.'"</a:t>
            </a:r>
          </a:p>
          <a:p>
            <a:pPr>
              <a:spcBef>
                <a:spcPts val="1200"/>
              </a:spcBef>
              <a:defRPr sz="900">
                <a:solidFill>
                  <a:srgbClr val="94A3B8"/>
                </a:solidFill>
              </a:defRPr>
            </a:pPr>
            <a:r>
              <a:t>Dinero en cuenta bancaria y datos activos al instante.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ALIANZAS COMERCIALES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Cazador de Ofertas: Retail Media con Split 20/80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Monetización de tráfico físico en comercios aliados con tecnología antifraude TOTP de 60s.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2100" b="1">
                <a:solidFill>
                  <a:srgbClr val="E62020"/>
                </a:solidFill>
              </a:defRPr>
            </a:pPr>
            <a:r>
              <a:t>56 Marcas Aliadas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Cadenas Comerciales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Arturo's, Farmahorro, Cines Unidos, Traki, Automercados Plaza's.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2100" b="1">
                <a:solidFill>
                  <a:srgbClr val="F59E0B"/>
                </a:solidFill>
              </a:defRPr>
            </a:pPr>
            <a:r>
              <a:t>204 Ofertas en Radar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Descuentos Hiper-Geolocalizados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Promociones con radio de cobertura dinámico de 500m a 50 km.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2100" b="1">
                <a:solidFill>
                  <a:srgbClr val="10B981"/>
                </a:solidFill>
              </a:defRPr>
            </a:pPr>
            <a:r>
              <a:t>Split Comercial 20 / 80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Ingreso Neto para Movilnet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Movilnet retiene $0.40 USD netos por cada cupón canjeado en tienda.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121E3A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lIns="274320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🛡️ CÓMO FUNCIONA EL MODELO DE NEGOCIO Y LA SEGURIDAD ANTIFRAUDE</a:t>
            </a:r>
          </a:p>
          <a:p>
            <a:pPr>
              <a:spcBef>
                <a:spcPts val="700"/>
              </a:spcBef>
              <a:defRPr sz="1000">
                <a:solidFill>
                  <a:srgbClr val="CBD5E1"/>
                </a:solidFill>
              </a:defRPr>
            </a:pPr>
            <a:r>
              <a:t>1. Generación de Cupones TOTP (60 Segundos): Código dinámico de un solo uso que expira en 60s, evitando capturas falsificadas en taquilla.</a:t>
            </a:r>
          </a:p>
          <a:p>
            <a:pPr>
              <a:spcBef>
                <a:spcPts val="500"/>
              </a:spcBef>
              <a:defRPr sz="1000">
                <a:solidFill>
                  <a:srgbClr val="CBD5E1"/>
                </a:solidFill>
              </a:defRPr>
            </a:pPr>
            <a:r>
              <a:t>2. Liquidación Automática en Cero Inventario: Movilnet no compra ni almacena inventario. Solo cobra comisión al validarse el consumo en el POS aliado.</a:t>
            </a:r>
          </a:p>
          <a:p>
            <a:pPr>
              <a:spcBef>
                <a:spcPts val="500"/>
              </a:spcBef>
              <a:defRPr sz="1000">
                <a:solidFill>
                  <a:srgbClr val="10B981"/>
                </a:solidFill>
              </a:defRPr>
            </a:pPr>
            <a:r>
              <a:t>3. Margen Operativo Bruto &gt;85%: Operación 100% sobre software en la nube, traduciéndose en beneficio neto directo.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GROWTH &amp; CAPTACIÓN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Cómo Capturamos Abonados de Digitel y Movistar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Estrategia de conversión perimetral para migrar usuarios hacia Movilnet sin costo de adquisición.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Detección Perimetral</a:t>
            </a:r>
          </a:p>
          <a:p>
            <a:pPr>
              <a:spcBef>
                <a:spcPts val="800"/>
              </a:spcBef>
              <a:defRPr sz="1300" b="1">
                <a:solidFill>
                  <a:srgbClr val="A855F7"/>
                </a:solidFill>
              </a:defRPr>
            </a:pPr>
            <a:r>
              <a:t>0414 / 0424 / 0412</a:t>
            </a:r>
          </a:p>
          <a:p>
            <a:pPr>
              <a:spcBef>
                <a:spcPts val="1400"/>
              </a:spcBef>
              <a:defRPr sz="1000">
                <a:solidFill>
                  <a:srgbClr val="CBD5E1"/>
                </a:solidFill>
              </a:defRPr>
            </a:pPr>
            <a:r>
              <a:t>El sistema identifica automáticamente cuando un usuario de la competencia chatea o entra a la PWA.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Gancho Freemium</a:t>
            </a:r>
          </a:p>
          <a:p>
            <a:pPr>
              <a:spcBef>
                <a:spcPts val="800"/>
              </a:spcBef>
              <a:defRPr sz="1300" b="1">
                <a:solidFill>
                  <a:srgbClr val="F59E0B"/>
                </a:solidFill>
              </a:defRPr>
            </a:pPr>
            <a:r>
              <a:t>1.000 Tokens de Bienvenida</a:t>
            </a:r>
          </a:p>
          <a:p>
            <a:pPr>
              <a:spcBef>
                <a:spcPts val="1400"/>
              </a:spcBef>
              <a:defRPr sz="1000">
                <a:solidFill>
                  <a:srgbClr val="CBD5E1"/>
                </a:solidFill>
              </a:defRPr>
            </a:pPr>
            <a:r>
              <a:t>Se le obsequia interacción gratis para probar la velocidad y resolver dudas, demostrando la superioridad del servicio.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Portabilidad Express eSIM</a:t>
            </a:r>
          </a:p>
          <a:p>
            <a:pPr>
              <a:spcBef>
                <a:spcPts val="800"/>
              </a:spcBef>
              <a:defRPr sz="1300" b="1">
                <a:solidFill>
                  <a:srgbClr val="0EA5E9"/>
                </a:solidFill>
              </a:defRPr>
            </a:pPr>
            <a:r>
              <a:t>Migración en 3 Minutos</a:t>
            </a:r>
          </a:p>
          <a:p>
            <a:pPr>
              <a:spcBef>
                <a:spcPts val="1400"/>
              </a:spcBef>
              <a:defRPr sz="1000">
                <a:solidFill>
                  <a:srgbClr val="CBD5E1"/>
                </a:solidFill>
              </a:defRPr>
            </a:pPr>
            <a:r>
              <a:t>Conserva su mismo número y se pasa a la red 4GMAX de Movilnet con una eSIM digital instantánea sin ir a tienda.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LTV del Abonado Captado</a:t>
            </a:r>
          </a:p>
          <a:p>
            <a:pPr>
              <a:spcBef>
                <a:spcPts val="800"/>
              </a:spcBef>
              <a:defRPr sz="1300" b="1">
                <a:solidFill>
                  <a:srgbClr val="10B981"/>
                </a:solidFill>
              </a:defRPr>
            </a:pPr>
            <a:r>
              <a:t>$42 USD / Año por Línea</a:t>
            </a:r>
          </a:p>
          <a:p>
            <a:pPr>
              <a:spcBef>
                <a:spcPts val="1400"/>
              </a:spcBef>
              <a:defRPr sz="1000">
                <a:solidFill>
                  <a:srgbClr val="CBD5E1"/>
                </a:solidFill>
              </a:defRPr>
            </a:pPr>
            <a:r>
              <a:t>120.000 líneas captadas representan +$5.04M USD anuales con costo de adquisición (CAC) casi cero.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62020"/>
                </a:solidFill>
              </a:defRPr>
            </a:pPr>
            <a:r>
              <a:t>TIME-TO-MONEY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</a:defRPr>
            </a:pPr>
            <a:r>
              <a:t>¿En Qué Tiempo se Ven los Ingresos de Mercadeo?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Roadmap de ejecución comercial en 3 horizontes con facturación auditable desde el Mes 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FASE 1: QUICK WINS</a:t>
            </a:r>
          </a:p>
          <a:p>
            <a:pPr>
              <a:spcBef>
                <a:spcPts val="300"/>
              </a:spcBef>
              <a:defRPr sz="1600" b="1">
                <a:solidFill>
                  <a:srgbClr val="FFFFFF"/>
                </a:solidFill>
              </a:defRPr>
            </a:pPr>
            <a:r>
              <a:t>Meses 1 a 3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Meta: $80k - $120k / mes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Activación en WhatsApp y PWA de la base actual.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Recargas Pago Móvil C2P en 12 segundos.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Venta automática de Extra Datos al consultar saldo.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Despliegue de material POP en las primeras 50 oficinas.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FASE 2: ESCALAMIENTO TERRITORIAL</a:t>
            </a:r>
          </a:p>
          <a:p>
            <a:pPr>
              <a:spcBef>
                <a:spcPts val="300"/>
              </a:spcBef>
              <a:defRPr sz="1600" b="1">
                <a:solidFill>
                  <a:srgbClr val="FFFFFF"/>
                </a:solidFill>
              </a:defRPr>
            </a:pPr>
            <a:r>
              <a:t>Meses 4 a 6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Meta: $250k - $380k / mes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Arranque de los Tours Movilnet nacionales y regionales.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Onboarding de 150 comercios en Cazador de Ofertas.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Campañas geolocalizadas con 56 cadenas comerciales.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Validación visual de comprobantes por 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29000" cy="4480560"/>
          </a:xfrm>
          <a:prstGeom prst="roundRect">
            <a:avLst/>
          </a:prstGeom>
          <a:solidFill>
            <a:srgbClr val="121E3A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FASE 3: CONQUISTA TOTAL</a:t>
            </a:r>
          </a:p>
          <a:p>
            <a:pPr>
              <a:spcBef>
                <a:spcPts val="300"/>
              </a:spcBef>
              <a:defRPr sz="1600" b="1">
                <a:solidFill>
                  <a:srgbClr val="FFFFFF"/>
                </a:solidFill>
              </a:defRPr>
            </a:pPr>
            <a:r>
              <a:t>Meses 7 a 12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Meta: $500k - $800k / mes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Portabilidad Express eSIM para Digitel y Movistar.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Carrier Billing para deportes (LVBP) y streaming.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Consolidación de MOVI como el canal líder del país.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Régimen comercial permanente de alto margen.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🌐 Portal PWA 4GMAX: https://one21026-ids-movilnet-pwa-bxmz.onrender.com/ui/pwa_stitch/index.html  |  Dossier Mercadeo  |  Telecomunicaciones Movilnet C.A.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
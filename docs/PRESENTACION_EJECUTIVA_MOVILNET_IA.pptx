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2926080"/>
          </a:xfrm>
          <a:prstGeom prst="rect">
            <a:avLst/>
          </a:prstGeom>
          <a:solidFill>
            <a:srgbClr val="E6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62020"/>
                </a:solidFill>
              </a:defRPr>
            </a:pPr>
            <a:r>
              <a:t>DOSSIER EJECUTIVO ESTRATÉGICO &amp; PLAN FINANCIERO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</a:defRPr>
            </a:pPr>
            <a:r>
              <a:t>Ecosistema Conversacional MOVI 4GMAX</a:t>
            </a:r>
          </a:p>
          <a:p>
            <a:pPr>
              <a:spcBef>
                <a:spcPts val="800"/>
              </a:spcBef>
              <a:defRPr sz="1700">
                <a:solidFill>
                  <a:srgbClr val="CBD5E1"/>
                </a:solidFill>
              </a:defRPr>
            </a:pPr>
            <a:r>
              <a:t>De Centro de Costos Operativos a Canal Dominante de Nuevos Ingresos Recurrentes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Telecomunicaciones Movilnet C.A.  •  WhatsApp Master + PWA con Cero Consumo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2560320" cy="164592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PAYBACK INVERSIÓN</a:t>
            </a:r>
          </a:p>
          <a:p>
            <a:pPr>
              <a:spcBef>
                <a:spcPts val="400"/>
              </a:spcBef>
              <a:defRPr sz="2400" b="1">
                <a:solidFill>
                  <a:srgbClr val="10B981"/>
                </a:solidFill>
              </a:defRPr>
            </a:pPr>
            <a:r>
              <a:t>7.2 Meses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Retorno acelerado por ahorro OPEX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4389120"/>
            <a:ext cx="2560320" cy="164592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TIR ANUAL (IRR)</a:t>
            </a:r>
          </a:p>
          <a:p>
            <a:pPr>
              <a:spcBef>
                <a:spcPts val="400"/>
              </a:spcBef>
              <a:defRPr sz="2400" b="1">
                <a:solidFill>
                  <a:srgbClr val="10B981"/>
                </a:solidFill>
              </a:defRPr>
            </a:pPr>
            <a:r>
              <a:t>68.4%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WACC descontado al 15%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389120"/>
            <a:ext cx="2560320" cy="164592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OPEN RATE WHATSAPP</a:t>
            </a:r>
          </a:p>
          <a:p>
            <a:pPr>
              <a:spcBef>
                <a:spcPts val="400"/>
              </a:spcBef>
              <a:defRPr sz="2400" b="1">
                <a:solidFill>
                  <a:srgbClr val="F59E0B"/>
                </a:solidFill>
              </a:defRPr>
            </a:pPr>
            <a:r>
              <a:t>98.2%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vs. 12.4% SMS tradicional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4389120"/>
            <a:ext cx="2560320" cy="164592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COSTO MARGINAL</a:t>
            </a:r>
          </a:p>
          <a:p>
            <a:pPr>
              <a:spcBef>
                <a:spcPts val="400"/>
              </a:spcBef>
              <a:defRPr sz="2400" b="1">
                <a:solidFill>
                  <a:srgbClr val="0EA5E9"/>
                </a:solidFill>
              </a:defRPr>
            </a:pPr>
            <a:r>
              <a:t>→ $0.00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$0.85 humano vs. $0.0044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DIAGNÓSTICO DEL NEGOCIO TELCO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El Salto Cuántico: De Costo Lineal a Activo Productivo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Comparativa económica entre el modelo de call center analógico y la plataforma autónoma MOVI.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/>
          <a:lstStyle/>
          <a:p>
            <a:pPr algn="ctr">
              <a:defRPr sz="1300" b="1">
                <a:solidFill>
                  <a:srgbClr val="E62020"/>
                </a:solidFill>
              </a:defRPr>
            </a:pPr>
            <a:r>
              <a:t>❌ EL MODELO TRADICIONAL (POZO DE OPEX)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Costo Rígido por Llamada: $0.85 USD promedio por ticket humano.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Ineficiencia Cognitiva: 62% del tráfico son preguntas obvias de saldo y corte.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Fricción en Recargas: Tiempos de espera de 7 a 15 min causan fuga de clientes (18% churn).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Generación de Ingresos: CERO ventas adicionales en llamadas de reclamo.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✅ LA PLATAFORMA MOVI (ACTIVO GENERADOR DE DINERO)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Costo Marginal Infinitesimal: $0.0044 USD por sesión (ahorro del 94.8%).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Capacidad de Escala Elástica: 100.000 usuarios concurrentes sin colas de espera.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Recarga C2P en 12 Segundos: Pago Móvil integrado eleva recargas de 2.1 a 3.8 / mes.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Cross-Selling Automático: Venta de bolsas Extra Datos y cupones de retail al consultar saldo.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MONETIZACIÓN COMERCIAL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Las 5 Vías Directas de Nuevos Ingresos en Caja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Dónde y cómo se generan ingresos reales atribuibles a la gestión de mercadeo.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Extra Datos (Upselling)</a:t>
            </a:r>
          </a:p>
          <a:p>
            <a:pPr>
              <a:spcBef>
                <a:spcPts val="300"/>
              </a:spcBef>
              <a:defRPr sz="1800" b="1">
                <a:solidFill>
                  <a:srgbClr val="F43F5E"/>
                </a:solidFill>
              </a:defRPr>
            </a:pPr>
            <a:r>
              <a:t>$720k / Año 1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</a:defRPr>
            </a:pPr>
            <a:r>
              <a:t>Detección predictiva cuando restan &lt;200 MB. Oferta automática con tasa de conversión del 8.7%.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Mayor Frecuencia C2P</a:t>
            </a:r>
          </a:p>
          <a:p>
            <a:pPr>
              <a:spcBef>
                <a:spcPts val="300"/>
              </a:spcBef>
              <a:defRPr sz="1800" b="1">
                <a:solidFill>
                  <a:srgbClr val="0EA5E9"/>
                </a:solidFill>
              </a:defRPr>
            </a:pPr>
            <a:r>
              <a:t>+$1.35 ARPU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</a:defRPr>
            </a:pPr>
            <a:r>
              <a:t>Recarga sin fricción bancaria en 12 seg. El abonado pasa de 2.1 a 3.8 recargas mensuales.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Retail Media Cazador</a:t>
            </a:r>
          </a:p>
          <a:p>
            <a:pPr>
              <a:spcBef>
                <a:spcPts val="300"/>
              </a:spcBef>
              <a:defRPr sz="1800" b="1">
                <a:solidFill>
                  <a:srgbClr val="F59E0B"/>
                </a:solidFill>
              </a:defRPr>
            </a:pPr>
            <a:r>
              <a:t>$360k / Año 1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</a:defRPr>
            </a:pPr>
            <a:r>
              <a:t>56 cadenas aliadas con 204 ofertas. Split publicitario 20/80 ($0.40 USD netos por cupón canjeado).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578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Conquista de Competencia</a:t>
            </a:r>
          </a:p>
          <a:p>
            <a:pPr>
              <a:spcBef>
                <a:spcPts val="300"/>
              </a:spcBef>
              <a:defRPr sz="1800" b="1">
                <a:solidFill>
                  <a:srgbClr val="A855F7"/>
                </a:solidFill>
              </a:defRPr>
            </a:pPr>
            <a:r>
              <a:t>120.000 Líneas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</a:defRPr>
            </a:pPr>
            <a:r>
              <a:t>Captación de Movistar/Digitel vía bono Freemium y Portabilidad Express eSIM en 3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931920"/>
            <a:ext cx="52578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Carrier Billing &amp; LVBP</a:t>
            </a:r>
          </a:p>
          <a:p>
            <a:pPr>
              <a:spcBef>
                <a:spcPts val="300"/>
              </a:spcBef>
              <a:defRPr sz="1800" b="1">
                <a:solidFill>
                  <a:srgbClr val="10B981"/>
                </a:solidFill>
              </a:defRPr>
            </a:pPr>
            <a:r>
              <a:t>15% - 25% Fee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</a:defRPr>
            </a:pPr>
            <a:r>
              <a:t>Paquetes de datos temáticos y cobro a saldo de suscripciones de streaming, béisbol y juegos.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FUNNEL DE CONVERSIÓN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El Embudo Conversacional: De Consulta a Venta en 12 Segundos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Cómo la inteligencia artificial acompaña al usuario en su propio chat sin carritos abandonados.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PASO 1: TOFU (Segundo 0)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Consulta Pasiva</a:t>
            </a:r>
          </a:p>
          <a:p>
            <a:pPr>
              <a:spcBef>
                <a:spcPts val="1400"/>
              </a:spcBef>
              <a:defRPr sz="1000" i="1">
                <a:solidFill>
                  <a:srgbClr val="E2E8F0"/>
                </a:solidFill>
              </a:defRPr>
            </a:pPr>
            <a:r>
              <a:t>"Usuario: 'Hola, ¿cuántos megas me quedan?'"</a:t>
            </a:r>
          </a:p>
          <a:p>
            <a:pPr>
              <a:spcBef>
                <a:spcPts val="1400"/>
              </a:spcBef>
              <a:defRPr sz="950">
                <a:solidFill>
                  <a:srgbClr val="94A3B8"/>
                </a:solidFill>
              </a:defRPr>
            </a:pPr>
            <a:r>
              <a:t>El usuario busca información rutinaria sin intención de compra inicial.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PASO 2: MOFU (Segundo 3)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Diagnóstico con Urgencia</a:t>
            </a:r>
          </a:p>
          <a:p>
            <a:pPr>
              <a:spcBef>
                <a:spcPts val="1400"/>
              </a:spcBef>
              <a:defRPr sz="1000" i="1">
                <a:solidFill>
                  <a:srgbClr val="E2E8F0"/>
                </a:solidFill>
              </a:defRPr>
            </a:pPr>
            <a:r>
              <a:t>"MOVI: 'Te quedan 180 MB y tu plan vence en 14 días. Los vas a agotar hoy.'"</a:t>
            </a:r>
          </a:p>
          <a:p>
            <a:pPr>
              <a:spcBef>
                <a:spcPts val="1400"/>
              </a:spcBef>
              <a:defRPr sz="950">
                <a:solidFill>
                  <a:srgbClr val="94A3B8"/>
                </a:solidFill>
              </a:defRPr>
            </a:pPr>
            <a:r>
              <a:t>El sistema crea conciencia de la necesidad antes de que el usuario quede incomunicado.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PASO 3: BOFU (Segundo 6)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Oferta Irresistible (CTA)</a:t>
            </a:r>
          </a:p>
          <a:p>
            <a:pPr>
              <a:spcBef>
                <a:spcPts val="1400"/>
              </a:spcBef>
              <a:defRPr sz="1000" i="1">
                <a:solidFill>
                  <a:srgbClr val="E2E8F0"/>
                </a:solidFill>
              </a:defRPr>
            </a:pPr>
            <a:r>
              <a:t>"MOVI: '¿Deseas activar una bolsa Extra Datos 2GB por solo Bs. 45 con 1 clic?'"</a:t>
            </a:r>
          </a:p>
          <a:p>
            <a:pPr>
              <a:spcBef>
                <a:spcPts val="1400"/>
              </a:spcBef>
              <a:defRPr sz="950">
                <a:solidFill>
                  <a:srgbClr val="94A3B8"/>
                </a:solidFill>
              </a:defRPr>
            </a:pPr>
            <a:r>
              <a:t>Presentación de la solución con precio exacto y botón directo de compra.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PASO 4: CIERRE (Segundo 12)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Pago Inmediato C2P</a:t>
            </a:r>
          </a:p>
          <a:p>
            <a:pPr>
              <a:spcBef>
                <a:spcPts val="1400"/>
              </a:spcBef>
              <a:defRPr sz="1000" i="1">
                <a:solidFill>
                  <a:srgbClr val="E2E8F0"/>
                </a:solidFill>
              </a:defRPr>
            </a:pPr>
            <a:r>
              <a:t>"Sistema: '¡Acreditación Exitosa! Ref: 894125 • +2 GB disponibles.'"</a:t>
            </a:r>
          </a:p>
          <a:p>
            <a:pPr>
              <a:spcBef>
                <a:spcPts val="1400"/>
              </a:spcBef>
              <a:defRPr sz="950">
                <a:solidFill>
                  <a:srgbClr val="94A3B8"/>
                </a:solidFill>
              </a:defRPr>
            </a:pPr>
            <a:r>
              <a:t>Dinero en cuenta bancaria y datos activos al instante. Cero carritos abandonados.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ALIANZAS ESTRATÉGICAS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Cazador de Ofertas: La Red Publicitaria Retail Media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Monetización de tráfico físico en comercios aliados con tecnología antifraude TOTP.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2200" b="1">
                <a:solidFill>
                  <a:srgbClr val="E62020"/>
                </a:solidFill>
              </a:defRPr>
            </a:pPr>
            <a:r>
              <a:t>56 Marcas Aliadas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Cadenas Comerciales Activas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Arturo's, Farmahorro, Cines Unidos, Traki, Automercados Plaza's.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204 Ofertas en Radar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Descuentos Hiper-Geolocalizados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Promociones con radio de cobertura dinámico de 500m a 50 km.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Split Comercial 20 / 80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Ingreso Neto para Movilnet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Movilnet retiene $0.40 USD netos por cada cupón canjeado en tienda.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121E3A"/>
          </a:solidFill>
          <a:ln>
            <a:solidFill>
              <a:srgbClr val="284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/>
          <a:lstStyle/>
          <a:p>
            <a:pPr algn="ctr">
              <a:defRPr sz="1300" b="1">
                <a:solidFill>
                  <a:srgbClr val="0EA5E9"/>
                </a:solidFill>
              </a:defRPr>
            </a:pPr>
            <a:r>
              <a:t>🛡️ CÓMO FUNCIONA EL MODELO DE NEGOCIO Y LA SEGURIDAD ANTIFRAUDE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1. Generación de Cupones TOTP (60 Segundos): Cada cupón contiene un código dinámico de un solo uso que expira en 60s, evitando duplicados o capturas de pantalla falsificadas en taquilla.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2. Liquidación Automática en Cero Inventario: Movilnet no compra ni almacena productos físicos. Solo cobra su comisión publicitaria al momento de la validación del consumo en el POS aliado.</a:t>
            </a:r>
          </a:p>
          <a:p>
            <a:pPr>
              <a:spcBef>
                <a:spcPts val="600"/>
              </a:spcBef>
              <a:defRPr sz="1050">
                <a:solidFill>
                  <a:srgbClr val="10B981"/>
                </a:solidFill>
              </a:defRPr>
            </a:pPr>
            <a:r>
              <a:t>3. Margen Operativo Bruto &gt;85%: Al operar sobre infraestructura de software en la nube, el margen de ganancia de esta línea de ingresos no-tarifarios es casi puro beneficio.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HORIZONTE DE RETORNO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¿En Qué Tiempo se Visualizan los Ingresos?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Roadmap comercial en 3 etapas con metas de facturación auditables desde el Mes 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/>
          <a:lstStyle/>
          <a:p>
            <a:pPr algn="ctr">
              <a:defRPr sz="1100" b="1">
                <a:solidFill>
                  <a:srgbClr val="F43F5E"/>
                </a:solidFill>
              </a:defRPr>
            </a:pPr>
            <a:r>
              <a:t>FASE 1: QUICK WINS</a:t>
            </a:r>
          </a:p>
          <a:p>
            <a:pPr>
              <a:spcBef>
                <a:spcPts val="300"/>
              </a:spcBef>
              <a:defRPr sz="1600" b="1">
                <a:solidFill>
                  <a:srgbClr val="FFFFFF"/>
                </a:solidFill>
              </a:defRPr>
            </a:pPr>
            <a:r>
              <a:t>Meses 1 a 3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</a:defRPr>
            </a:pPr>
            <a:r>
              <a:t>Meta: $80k - $120k / mes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Activación en WhatsApp y PWA de la base actual.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Recargas Pago Móvil C2P en 12 segundos.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Venta automática de Extra Datos al consultar saldo.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Impacto en caja visible en los primeros 30 días.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42900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FASE 2: ESCALAMIENTO RETAIL</a:t>
            </a:r>
          </a:p>
          <a:p>
            <a:pPr>
              <a:spcBef>
                <a:spcPts val="300"/>
              </a:spcBef>
              <a:defRPr sz="1600" b="1">
                <a:solidFill>
                  <a:srgbClr val="FFFFFF"/>
                </a:solidFill>
              </a:defRPr>
            </a:pPr>
            <a:r>
              <a:t>Meses 4 a 6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</a:defRPr>
            </a:pPr>
            <a:r>
              <a:t>Meta: $250k - $380k / mes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Onboarding de 150 comercios en Cazador de Ofertas.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Campañas geolocalizadas por radiobases.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Validación visual de comprobantes bancarios por OCR.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Facturación publicitaria masiva en grandes cadenas.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42900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FASE 3: CONQUISTA TOTAL</a:t>
            </a:r>
          </a:p>
          <a:p>
            <a:pPr>
              <a:spcBef>
                <a:spcPts val="300"/>
              </a:spcBef>
              <a:defRPr sz="1600" b="1">
                <a:solidFill>
                  <a:srgbClr val="FFFFFF"/>
                </a:solidFill>
              </a:defRPr>
            </a:pPr>
            <a:r>
              <a:t>Meses 7 a 12</a:t>
            </a:r>
          </a:p>
          <a:p>
            <a:pPr>
              <a:spcBef>
                <a:spcPts val="600"/>
              </a:spcBef>
              <a:defRPr sz="1200" b="1">
                <a:solidFill>
                  <a:srgbClr val="10B981"/>
                </a:solidFill>
              </a:defRPr>
            </a:pPr>
            <a:r>
              <a:t>Meta: $500k - $800k / mes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Portabilidad Express eSIM para Digitel y Movistar.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Carrier Billing para deportes (LVBP) y streaming.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Micro-seguros con cobro directo a saldo.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• Consolidación del régimen comercial permanente.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ECONOMÍA DE ESCALA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Costo Marginal Tendiente a Cero: La Ventaja Tecnológica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Cómo la combinación de Sistema 1 (FastPath) y Sistema 2 (IA Multimodal) maximiza el margen.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/>
          <a:lstStyle/>
          <a:p>
            <a:pPr algn="ctr">
              <a:defRPr sz="1200" b="1">
                <a:solidFill>
                  <a:srgbClr val="0EA5E9"/>
                </a:solidFill>
              </a:defRPr>
            </a:pPr>
            <a:r>
              <a:t>⚡ ARQUITECTURA HÍBRIDA DE CERO DESPERDICIO</a:t>
            </a:r>
          </a:p>
          <a:p>
            <a:pPr>
              <a:spcBef>
                <a:spcPts val="1000"/>
              </a:spcBef>
              <a:defRPr sz="1100" b="1">
                <a:solidFill>
                  <a:srgbClr val="10B981"/>
                </a:solidFill>
              </a:defRPr>
            </a:pPr>
            <a:r>
              <a:t>• 85% de las Solicitudes (Sistema 1 FastPath):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</a:defRPr>
            </a:pPr>
            <a:r>
              <a:t>Consultas de saldo, corte y paquetes se resuelven en memoria RAM local en &lt;1 milisegundo a CERO costo de tokens ($0.0000 USD).</a:t>
            </a:r>
          </a:p>
          <a:p>
            <a:pPr>
              <a:spcBef>
                <a:spcPts val="1200"/>
              </a:spcBef>
              <a:defRPr sz="1100" b="1">
                <a:solidFill>
                  <a:srgbClr val="A855F7"/>
                </a:solidFill>
              </a:defRPr>
            </a:pPr>
            <a:r>
              <a:t>• 15% Complejo (Sistema 2 Gemini Vision):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</a:defRPr>
            </a:pPr>
            <a:r>
              <a:t>Solo se activa para auditar imágenes de comprobantes de pago bancarios y notas de voz con costo mínimo de $0.0008 USD.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28600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📉 COSTO POR USUARIO / MES AL ESCALAR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Base Inicial (100.000 usuarios): $0.048 USD / mes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Base Media (1.500.000 usuarios): $0.009 USD / mes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Base Total (4.200.000 usuarios): $0.003 USD / mes</a:t>
            </a:r>
          </a:p>
          <a:p>
            <a:pPr>
              <a:spcBef>
                <a:spcPts val="1600"/>
              </a:spcBef>
              <a:defRPr sz="1000" i="1">
                <a:solidFill>
                  <a:srgbClr val="94A3B8"/>
                </a:solidFill>
              </a:defRPr>
            </a:pPr>
            <a:r>
              <a:t>Conclusión Económica: A mayor volumen de usuarios, el costo unitario tiende asintóticamente a cero, expandiendo el margen bruto por encima del 80%.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PLAN FINANCIERO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Estado de Resultados Proyectado (36 Meses en Miles USD)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Proyección financiera consolidada basada en supuestos conservadores de adopción.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94560"/>
                <a:gridCol w="2194560"/>
                <a:gridCol w="2194560"/>
              </a:tblGrid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Renglón Financiero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Año 1 (Adopción)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Año 2 (Escala)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Año 3 (Madurez)</a:t>
                      </a:r>
                    </a:p>
                  </a:txBody>
                  <a:tcPr>
                    <a:solidFill>
                      <a:srgbClr val="142341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Ahorro Neto OPEX Call Center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$1,224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$2,448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$3,264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Ingresos Venta Extra Datos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$720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$2,880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Comisiones Cupones Cazador (20%)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$360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$1,152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$2,304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Comisiones Pasarela FinTech C2P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$216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$648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FFFFF"/>
                          </a:solidFill>
                        </a:defRPr>
                      </a:pPr>
                      <a:r>
                        <a:t>$1,152</a:t>
                      </a:r>
                    </a:p>
                  </a:txBody>
                  <a:tcPr>
                    <a:solidFill>
                      <a:srgbClr val="121E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TOTAL INGRESOS Y AHORROS</a:t>
                      </a:r>
                    </a:p>
                  </a:txBody>
                  <a:tcPr>
                    <a:solidFill>
                      <a:srgbClr val="1E3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$2,520</a:t>
                      </a:r>
                    </a:p>
                  </a:txBody>
                  <a:tcPr>
                    <a:solidFill>
                      <a:srgbClr val="1E3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$6,048</a:t>
                      </a:r>
                    </a:p>
                  </a:txBody>
                  <a:tcPr>
                    <a:solidFill>
                      <a:srgbClr val="1E3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$9,600</a:t>
                      </a:r>
                    </a:p>
                  </a:txBody>
                  <a:tcPr>
                    <a:solidFill>
                      <a:srgbClr val="1E325A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EBITDA OPERATIVO PROYECTADO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$1,975 (78.4%)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$5,198 (85.9%)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$8,520 (88.8%)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GROWTH &amp; ADQUISICIÓN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Cómo Capturamos Usuarios de la Competencia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Estrategia perimetral para migrar abonados de Digitel y Movistar a costo de adquisición mínimo.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Detección Perimetral</a:t>
            </a:r>
          </a:p>
          <a:p>
            <a:pPr>
              <a:spcBef>
                <a:spcPts val="800"/>
              </a:spcBef>
              <a:defRPr sz="1300" b="1">
                <a:solidFill>
                  <a:srgbClr val="A855F7"/>
                </a:solidFill>
              </a:defRPr>
            </a:pPr>
            <a:r>
              <a:t>0414 / 0424 / 0412</a:t>
            </a:r>
          </a:p>
          <a:p>
            <a:pPr>
              <a:spcBef>
                <a:spcPts val="1400"/>
              </a:spcBef>
              <a:defRPr sz="1000">
                <a:solidFill>
                  <a:srgbClr val="CBD5E1"/>
                </a:solidFill>
              </a:defRPr>
            </a:pPr>
            <a:r>
              <a:t>El firewall identifica cuando un usuario de la competencia entra al portal o escribe a WhatsApp.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Gancho Freemium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</a:defRPr>
            </a:pPr>
            <a:r>
              <a:t>1.000 Tokens de Bienvenida</a:t>
            </a:r>
          </a:p>
          <a:p>
            <a:pPr>
              <a:spcBef>
                <a:spcPts val="1400"/>
              </a:spcBef>
              <a:defRPr sz="1000">
                <a:solidFill>
                  <a:srgbClr val="CBD5E1"/>
                </a:solidFill>
              </a:defRPr>
            </a:pPr>
            <a:r>
              <a:t>Se le permite interactuar gratis con MOVI para consultar promociones, demostrando la superioridad del servicio.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Portabilidad Express eSIM</a:t>
            </a:r>
          </a:p>
          <a:p>
            <a:pPr>
              <a:spcBef>
                <a:spcPts val="800"/>
              </a:spcBef>
              <a:defRPr sz="1300" b="1">
                <a:solidFill>
                  <a:srgbClr val="0EA5E9"/>
                </a:solidFill>
              </a:defRPr>
            </a:pPr>
            <a:r>
              <a:t>Migración en 3 Minutos</a:t>
            </a:r>
          </a:p>
          <a:p>
            <a:pPr>
              <a:spcBef>
                <a:spcPts val="1400"/>
              </a:spcBef>
              <a:defRPr sz="1000">
                <a:solidFill>
                  <a:srgbClr val="CBD5E1"/>
                </a:solidFill>
              </a:defRPr>
            </a:pPr>
            <a:r>
              <a:t>Se le ofrece conservar su mismo número y pasarse a la red 4GMAX de Movilnet con una eSIM digital instantánea.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18288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LTV del Abonado Captado</a:t>
            </a:r>
          </a:p>
          <a:p>
            <a:pPr>
              <a:spcBef>
                <a:spcPts val="800"/>
              </a:spcBef>
              <a:defRPr sz="1300" b="1">
                <a:solidFill>
                  <a:srgbClr val="10B981"/>
                </a:solidFill>
              </a:defRPr>
            </a:pPr>
            <a:r>
              <a:t>$42 USD / Año por Línea</a:t>
            </a:r>
          </a:p>
          <a:p>
            <a:pPr>
              <a:spcBef>
                <a:spcPts val="1400"/>
              </a:spcBef>
              <a:defRPr sz="1000">
                <a:solidFill>
                  <a:srgbClr val="CBD5E1"/>
                </a:solidFill>
              </a:defRPr>
            </a:pPr>
            <a:r>
              <a:t>120.000 líneas captadas representan +$5.04M USD anuales con costo de adquisición (CAC) casi cero.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62020"/>
                </a:solidFill>
              </a:defRPr>
            </a:pPr>
            <a:r>
              <a:t>DECISIÓN DE FINANCIAMIENTO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Estructura de Capital Solicitado y Próximos Pasos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</a:defRPr>
            </a:pPr>
            <a:r>
              <a:t>Presupuesto de USD $850.000 estructurado en 3 tramos auditables contra entregables.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31089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100" b="1">
                <a:solidFill>
                  <a:srgbClr val="E62020"/>
                </a:solidFill>
              </a:defRPr>
            </a:pPr>
            <a:r>
              <a:t>TRAMO 1 (Desembolso Inmediato)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$340.000 USD (40%)</a:t>
            </a:r>
          </a:p>
          <a:p>
            <a:pPr>
              <a:spcBef>
                <a:spcPts val="1000"/>
              </a:spcBef>
              <a:defRPr sz="950">
                <a:solidFill>
                  <a:srgbClr val="CBD5E1"/>
                </a:solidFill>
              </a:defRPr>
            </a:pPr>
            <a:r>
              <a:t>• Infraestructura elástica y redundancia en Render Cloud.</a:t>
            </a:r>
            <a:br/>
            <a:r>
              <a:t>• Aseguramiento del canal WhatsApp Enterprise.</a:t>
            </a:r>
            <a:br/>
            <a:r>
              <a:t>• Despliegue de recargas C2P en 12 segundos.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429000" cy="31089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TRAMO 2 (Mes 3 de Operación)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$297.500 USD (35%)</a:t>
            </a:r>
          </a:p>
          <a:p>
            <a:pPr>
              <a:spcBef>
                <a:spcPts val="1000"/>
              </a:spcBef>
              <a:defRPr sz="950">
                <a:solidFill>
                  <a:srgbClr val="CBD5E1"/>
                </a:solidFill>
              </a:defRPr>
            </a:pPr>
            <a:r>
              <a:t>• Homologación masiva C2P con los 18 bancos nacionales.</a:t>
            </a:r>
            <a:br/>
            <a:r>
              <a:t>• Onboarding de 150 comercios aliados en Cazador.</a:t>
            </a:r>
            <a:br/>
            <a:r>
              <a:t>• Motor OCR avanzado para comprobantes bancarios.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429000" cy="3108960"/>
          </a:xfrm>
          <a:prstGeom prst="roundRect">
            <a:avLst/>
          </a:prstGeom>
          <a:solidFill>
            <a:srgbClr val="121E3A"/>
          </a:solidFill>
          <a:ln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TRAMO 3 (Mes 6 de Operación)</a:t>
            </a:r>
          </a:p>
          <a:p>
            <a:pPr>
              <a:spcBef>
                <a:spcPts val="400"/>
              </a:spcBef>
              <a:defRPr sz="1700" b="1">
                <a:solidFill>
                  <a:srgbClr val="FFFFFF"/>
                </a:solidFill>
              </a:defRPr>
            </a:pPr>
            <a:r>
              <a:t>$212.500 USD (25%)</a:t>
            </a:r>
          </a:p>
          <a:p>
            <a:pPr>
              <a:spcBef>
                <a:spcPts val="1000"/>
              </a:spcBef>
              <a:defRPr sz="950">
                <a:solidFill>
                  <a:srgbClr val="CBD5E1"/>
                </a:solidFill>
              </a:defRPr>
            </a:pPr>
            <a:r>
              <a:t>• Lanzamiento nacional de Portabilidad Express eSIM.</a:t>
            </a:r>
            <a:br/>
            <a:r>
              <a:t>• Integración de Carrier Billing para streaming y LVBP.</a:t>
            </a:r>
            <a:br/>
            <a:r>
              <a:t>• Reserva operativa de contingencia y expansión.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10698480" cy="1280160"/>
          </a:xfrm>
          <a:prstGeom prst="roundRect">
            <a:avLst/>
          </a:prstGeom>
          <a:solidFill>
            <a:srgbClr val="1E1428"/>
          </a:solidFill>
          <a:ln>
            <a:solidFill>
              <a:srgbClr val="E6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743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🎯 CONCLUSIÓN CONJUNTA: UN PROYECTO GANADOR PARA MERCADEO Y FINANZAS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Para Finanzas: Payback menor a 8 meses, TIR del 68.4% y ahorro masivo de OPEX.  |  Para Mercadeo: +$1.29M en ingresos Año 1, ARPU de +43.5% y 120k nuevos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🌐 Portal PWA 4GMAX: https://one21026-ids-movilnet-pwa-bxmz.onrender.com/ui/pwa_stitch/index.html  |  Telecomunicaciones Movilnet C.A.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
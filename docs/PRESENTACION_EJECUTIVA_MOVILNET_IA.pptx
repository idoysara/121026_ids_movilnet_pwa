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E6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2020"/>
                </a:solidFill>
              </a:defRPr>
            </a:pPr>
            <a:r>
              <a:t>DOSSIER ESTRATÉGICO DE INVERSIÓN &amp; MODELO COMERCIAL</a:t>
            </a:r>
          </a:p>
          <a:p>
            <a:pPr>
              <a:spcBef>
                <a:spcPts val="800"/>
              </a:spcBef>
              <a:defRPr sz="3400" b="1">
                <a:solidFill>
                  <a:srgbClr val="FFFFFF"/>
                </a:solidFill>
              </a:defRPr>
            </a:pPr>
            <a:r>
              <a:t>Ecosistema Conversacional MOVI 4GMAX</a:t>
            </a:r>
          </a:p>
          <a:p>
            <a:pPr>
              <a:spcBef>
                <a:spcPts val="800"/>
              </a:spcBef>
              <a:defRPr sz="1550">
                <a:solidFill>
                  <a:srgbClr val="CBD5E1"/>
                </a:solidFill>
              </a:defRPr>
            </a:pPr>
            <a:r>
              <a:t>Alianza Público-Privada: Aporte en Canales de Movilnet (4.2M Usuarios + Marketing) &amp; Capital Privado Tecnológico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Telecomunicaciones Movilnet C.A.  •  WhatsApp Master (+58 424 153 3712) + PWA con Cero Consumo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BASE CAUTIVA MOVILNET</a:t>
            </a:r>
          </a:p>
          <a:p>
            <a:pPr>
              <a:spcBef>
                <a:spcPts val="400"/>
              </a:spcBef>
              <a:defRPr sz="2300" b="1">
                <a:solidFill>
                  <a:srgbClr val="0EA5E9"/>
                </a:solidFill>
              </a:defRPr>
            </a:pPr>
            <a:r>
              <a:t>4.2M Usuarios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Acceso directo inmediato (CAC = $0)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APORTE DE MARKETING</a:t>
            </a:r>
          </a:p>
          <a:p>
            <a:pPr>
              <a:spcBef>
                <a:spcPts val="400"/>
              </a:spcBef>
              <a:defRPr sz="2300" b="1">
                <a:solidFill>
                  <a:srgbClr val="F59E0B"/>
                </a:solidFill>
              </a:defRPr>
            </a:pPr>
            <a:r>
              <a:t>100% Cubierto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POP, Banderines, Tours y RRSS por Movilnet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PAYBACK INVERSIÓN</a:t>
            </a:r>
          </a:p>
          <a:p>
            <a:pPr>
              <a:spcBef>
                <a:spcPts val="400"/>
              </a:spcBef>
              <a:defRPr sz="2300" b="1">
                <a:solidFill>
                  <a:srgbClr val="10B981"/>
                </a:solidFill>
              </a:defRPr>
            </a:pPr>
            <a:r>
              <a:t>6.2 Meses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Retorno acelerado por Revenue Share 75/25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TIR ANUAL (IRR)</a:t>
            </a:r>
          </a:p>
          <a:p>
            <a:pPr>
              <a:spcBef>
                <a:spcPts val="400"/>
              </a:spcBef>
              <a:defRPr sz="2300" b="1">
                <a:solidFill>
                  <a:srgbClr val="10B981"/>
                </a:solidFill>
              </a:defRPr>
            </a:pPr>
            <a:r>
              <a:t>74.6%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Flujo recurrente libre de riesgo de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ESTRUCTURA DEL NEGOCIO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El Modelo de Alianza: Simetría de Aportes entre las Partes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Movilnet no desembolsa fondos líquidos; aporta audiencia masiva y marketing nacional. El capital privado aporta tecnología.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E6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50" b="1">
                <a:solidFill>
                  <a:srgbClr val="E62020"/>
                </a:solidFill>
              </a:defRPr>
            </a:pPr>
            <a:r>
              <a:t>🏢 APORTE ESTRATÉGICO DE MOVILNET (CERO FONDOS LÍQUIDOS)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Base Cautiva de 4.2M Usuarios: Acceso exclusivo e inmediato a 4.2 millones de abonados activos sin costo de adquisición (CAC = $0).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Material POP Nacional: Producción y montaje de banderines, pendones, tótems y habladores en oficinas y agentes autorizados.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Presencia Física en Tours y Ferias: Inclusión obligatoria en Tours Movilnet regionales/municipales, seminarios, charlas y eventos cubiertos 100% por Movilnet.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Ecosistema Digital Oficial: Difusión masiva en redes oficiales (Instagram, TikTok, X), portal web movilnet.com.ve y SMS institucionales.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Protagonismo Institucional: MOVI como protagonista e imagen oficial de la compañía.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💼 APORTE DEL INVERSIONISTA PRIVADO (CAPITAL TECNOLÓGICO)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Financiamiento Tecnológico Total: Aporte de USD $450.000 para cómputo elástico en la nube, clúster de servidores de alta concurrencia y edge CDN.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Inferencia de IA y Modelos LLM: Integración de Google Gemini 2.5 Flash Multimodal para visión bancaria OCR y transcripción de voz.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Pasarela FinTech SUDEBAN C2P: Conectores interbancarios en tiempo real para liquidación de cobros en 12 segundos.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Ingeniería SRE 24/7 &amp; Seguridad: Blindaje criptográfico SHA-256, Zero-PII, SLA 99.95% y mantenimiento operativo continuo.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Esquema de Retorno Acelerado: Retiene el 75% del flujo de nuevos ingresos hasta recuperar el 100% de la inversión (Payback en 6.2 meses).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ESTRATEGIA DE MERCADEO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MOVI: El Protagonista Principal en Calles, Eventos y Medios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Despliegue integral cubierto y financiado 100% por el presupuesto habitual de Mercadeo de Movilnet.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01168"/>
          <a:lstStyle/>
          <a:p>
            <a:pPr algn="ctr">
              <a:defRPr sz="1150" b="1">
                <a:solidFill>
                  <a:srgbClr val="E62020"/>
                </a:solidFill>
              </a:defRPr>
            </a:pPr>
            <a:r>
              <a:t>1. Material POP &amp; Puntos de Venta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</a:defRPr>
            </a:pPr>
            <a:r>
              <a:t>Presencia en Cada Tienda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Banderines oficiales MOVI en agentes comerciales.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Pendones de alto impacto: 'Recarga en 12s por WhatsApp'.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Habladores en taquillas con QR dinámico para autogestión.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Tótems interactivos en centros comerciales del país.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01168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2. Tours Movilnet Nacionales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</a:defRPr>
            </a:pPr>
            <a:r>
              <a:t>Caravanas en Regiones y Plazas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Presencia en charlas, conferencias, seminarios y ferias.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Activaciones en vivo: recarga y consulta en tarima pública.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Trivias gamificadas conducidas por la IA en WhatsApp.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Cobertura logística y viáticos 100% pagados por Movilnet.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01168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3. Ecosistema Digital &amp; Web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</a:defRPr>
            </a:pPr>
            <a:r>
              <a:t>Redes Sociales y Masivos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Hero Banner principal en www.movilnet.com.ve.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Campaña viral en Instagram, TikTok, X y Facebook.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SMS push institucionales dirigidos a los 4.2M de usuarios.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Bono Freemium de 1.000 tokens para captar a la competencia.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DIAGNÓSTICO DEL NEGOCIO TELCO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El Salto Cuántico: De Pozo de OPEX a Activo de Nuevos Ingresos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Comparativa económica entre la atención humana tradicional y la plataforma autónoma MOVI.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E62020"/>
                </a:solidFill>
              </a:defRPr>
            </a:pPr>
            <a:r>
              <a:t>❌ EL MODELO TRADICIONAL (POZO DE OPEX)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Costo Rígido por Llamada: $0.85 USD promedio por ticket humano.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Ineficiencia Cognitiva: 62% del tráfico son preguntas obvias de saldo y corte.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Fricción en Recargas: Tiempos de espera de 7 a 15 min causan fuga de clientes (18% churn).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Generación de Ingresos: CERO ventas adicionales en llamadas de reclamo.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✅ LA PLATAFORMA MOVI (ACTIVO GENERADOR DE DINERO)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Costo Marginal Infinitesimal: $0.0044 USD por sesión (ahorro del 94.8%).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Capacidad de Escala Elástica: 100.000 usuarios concurrentes sin colas de espera.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Recarga C2P en 12 Segundos: Pago Móvil integrado eleva recargas de 2.1 a 3.8 / mes.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Cross-Selling Automático: Venta de bolsas Extra Datos y cupones retail al consultar saldo.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MONETIZACIÓN COMERCIAL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Las 5 Vías Directas de Nuevos Ingresos en Caja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Dónde y cómo se generan ingresos reales atribuibles a la gestión de mercadeo.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Extra Datos (Upselling)</a:t>
            </a:r>
          </a:p>
          <a:p>
            <a:pPr>
              <a:spcBef>
                <a:spcPts val="300"/>
              </a:spcBef>
              <a:defRPr sz="1800" b="1">
                <a:solidFill>
                  <a:srgbClr val="F43F5E"/>
                </a:solidFill>
              </a:defRPr>
            </a:pPr>
            <a:r>
              <a:t>$840k / Año 1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Detección predictiva cuando restan &lt;200 MB. Oferta automática con tasa de conversión del 8.7%.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Mayor Frecuencia C2P</a:t>
            </a:r>
          </a:p>
          <a:p>
            <a:pPr>
              <a:spcBef>
                <a:spcPts val="300"/>
              </a:spcBef>
              <a:defRPr sz="1800" b="1">
                <a:solidFill>
                  <a:srgbClr val="0EA5E9"/>
                </a:solidFill>
              </a:defRPr>
            </a:pPr>
            <a:r>
              <a:t>+$1.35 ARPU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Recarga sin fricción bancaria en 12 seg. El abonado pasa de 2.1 a 3.8 recargas mensuales.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Retail Media Cazador</a:t>
            </a:r>
          </a:p>
          <a:p>
            <a:pPr>
              <a:spcBef>
                <a:spcPts val="300"/>
              </a:spcBef>
              <a:defRPr sz="1800" b="1">
                <a:solidFill>
                  <a:srgbClr val="F59E0B"/>
                </a:solidFill>
              </a:defRPr>
            </a:pPr>
            <a:r>
              <a:t>$420k / Año 1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56 cadenas aliadas con 204 ofertas. Split publicitario 20/80 ($0.40 USD netos por cupón canjeado).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Conquista de Competencia</a:t>
            </a:r>
          </a:p>
          <a:p>
            <a:pPr>
              <a:spcBef>
                <a:spcPts val="300"/>
              </a:spcBef>
              <a:defRPr sz="1800" b="1">
                <a:solidFill>
                  <a:srgbClr val="A855F7"/>
                </a:solidFill>
              </a:defRPr>
            </a:pPr>
            <a:r>
              <a:t>120.000 Líneas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Captación de Movistar/Digitel vía bono Freemium y Portabilidad Express eSIM en 3 minutos.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Carrier Billing &amp; LVBP</a:t>
            </a:r>
          </a:p>
          <a:p>
            <a:pPr>
              <a:spcBef>
                <a:spcPts val="300"/>
              </a:spcBef>
              <a:defRPr sz="1800" b="1">
                <a:solidFill>
                  <a:srgbClr val="10B981"/>
                </a:solidFill>
              </a:defRPr>
            </a:pPr>
            <a:r>
              <a:t>15% - 25% Fee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Paquetes de datos temáticos y cobro a saldo de suscripciones de streaming, béisbol y juegos.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FUNNEL DE CONVERSIÓN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El Embudo Conversacional: De Consulta a Venta en 12 Segundos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Cómo la inteligencia artificial acompaña al usuario en su propio chat sin carritos abandonados.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PASO 1: TOFU (Segundo 0)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Consulta Pasiva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"Usuario: 'Hola, ¿cuántos megas me quedan?'"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El usuario busca información rutinaria sin intención de compra inicial.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PASO 2: MOFU (Segundo 3)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Diagnóstico con Urgencia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"MOVI: 'Te quedan 180 MB y tu plan vence en 14 días. Los vas a agotar hoy.'"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El sistema crea conciencia de la necesidad antes de que el usuario quede incomunicado.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PASO 3: BOFU (Segundo 6)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Oferta Irresistible (CTA)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"MOVI: '¿Deseas activar una bolsa Extra Datos 2GB por solo Bs. 45 con 1 clic?'"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Presentación de la solución con precio exacto y botón directo de compra.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PASO 4: CIERRE (Segundo 12)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Pago Inmediato C2P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"Sistema: '¡Acreditación Exitosa! Ref: 894125 • +2 GB disponibles.'"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Dinero en cuenta bancaria y datos activos al instante. Cero carritos abandonados.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ALIANZAS ESTRATÉGICAS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Cazador de Ofertas: La Red Publicitaria Retail Media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Monetización de tráfico físico en comercios aliados con tecnología antifraude TOTP.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E62020"/>
                </a:solidFill>
              </a:defRPr>
            </a:pPr>
            <a:r>
              <a:t>56 Marcas Aliadas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Cadenas Comerciales Activas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Arturo's, Farmahorro, Cines Unidos, Traki, Automercados Plaza's.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F59E0B"/>
                </a:solidFill>
              </a:defRPr>
            </a:pPr>
            <a:r>
              <a:t>204 Ofertas en Radar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Descuentos Hiper-Geolocalizados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Promociones con radio de cobertura dinámico de 500m a 50 km.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10B981"/>
                </a:solidFill>
              </a:defRPr>
            </a:pPr>
            <a:r>
              <a:t>Split Comercial 20 / 80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Ingreso Neto para Movilnet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Movilnet retiene $0.40 USD netos por cada cupón canjeado en tienda.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21E3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7432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🛡️ CÓMO FUNCIONA EL MODELO DE NEGOCIO Y LA SEGURIDAD ANTIFRAUDE</a:t>
            </a:r>
          </a:p>
          <a:p>
            <a:pPr>
              <a:spcBef>
                <a:spcPts val="700"/>
              </a:spcBef>
              <a:defRPr sz="1000">
                <a:solidFill>
                  <a:srgbClr val="CBD5E1"/>
                </a:solidFill>
              </a:defRPr>
            </a:pPr>
            <a:r>
              <a:t>1. Generación de Cupones TOTP (60 Segundos): Código dinámico de un solo uso que expira en 60s, evitando capturas falsificadas en taquilla.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</a:defRPr>
            </a:pPr>
            <a:r>
              <a:t>2. Liquidación Automática en Cero Inventario: Movilnet no compra ni almacena inventario. Solo cobra comisión al validarse el consumo en el POS aliado.</a:t>
            </a:r>
          </a:p>
          <a:p>
            <a:pPr>
              <a:spcBef>
                <a:spcPts val="500"/>
              </a:spcBef>
              <a:defRPr sz="1000">
                <a:solidFill>
                  <a:srgbClr val="10B981"/>
                </a:solidFill>
              </a:defRPr>
            </a:pPr>
            <a:r>
              <a:t>3. Margen Operativo Bruto &gt;85%: Operación 100% sobre software en la nube, traduciéndose en beneficio neto directo.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ECONOMÍA DE ESCALA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Costo Marginal Tendiente a Cero: La Ventaja Tecnológica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Cómo la combinación de Sistema 1 (FastPath) y Sistema 2 (IA Multimodal) maximiza el margen con CAC = $0.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⚡ ARQUITECTURA HÍBRIDA DE CERO DESPERDICIO</a:t>
            </a:r>
          </a:p>
          <a:p>
            <a:pPr>
              <a:spcBef>
                <a:spcPts val="1000"/>
              </a:spcBef>
              <a:defRPr sz="1050" b="1">
                <a:solidFill>
                  <a:srgbClr val="10B981"/>
                </a:solidFill>
              </a:defRPr>
            </a:pPr>
            <a:r>
              <a:t>• 85% de las Solicitudes (Sistema 1 FastPath):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Consultas de saldo, corte y paquetes se resuelven en memoria RAM local en &lt;1 ms a CERO costo de tokens ($0.0000 USD).</a:t>
            </a:r>
          </a:p>
          <a:p>
            <a:pPr>
              <a:spcBef>
                <a:spcPts val="1200"/>
              </a:spcBef>
              <a:defRPr sz="1050" b="1">
                <a:solidFill>
                  <a:srgbClr val="A855F7"/>
                </a:solidFill>
              </a:defRPr>
            </a:pPr>
            <a:r>
              <a:t>• 15% Complejo (Sistema 2 Gemini Vision):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</a:defRPr>
            </a:pPr>
            <a:r>
              <a:t>Solo se activa para auditar imágenes de comprobantes bancarios y notas de voz con costo de $0.0008 USD.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📉 COSTO POR USUARIO / MES AL ESCALAR (CAC = $0)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Inicial (100.000 usuarios): $0.048 USD / mes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Media (1.500.000 usuarios): $0.009 USD / mes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t>Base Total (4.200.000 usuarios): $0.003 USD / mes</a:t>
            </a:r>
          </a:p>
          <a:p>
            <a:pPr>
              <a:spcBef>
                <a:spcPts val="1600"/>
              </a:spcBef>
              <a:defRPr sz="950" i="1">
                <a:solidFill>
                  <a:srgbClr val="94A3B8"/>
                </a:solidFill>
              </a:defRPr>
            </a:pPr>
            <a:r>
              <a:t>Conclusión para el Inversor: Al asumir Movilnet el 100% del marketing y aportar 4.2M de usuarios, el CAC es $0 y el margen operativo supera el 85%.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PLAN FINANCIERO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Estado de Resultados Consolidado (36 Meses en Miles USD)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Proyección financiera basada en la adopción masiva impulsada por los Tours y Canales Oficiales.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94560"/>
                <a:gridCol w="2194560"/>
                <a:gridCol w="219456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Renglón Financiero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1 (Adopción)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2 (Escala)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Año 3 (Madurez)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Ahorro Neto OPEX Call Center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$1,224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$2,448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$3,264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Ingresos Venta Extra Datos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$840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$3,360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Comisiones Cupones Cazador (20%)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$420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$1,344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$2,688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Comisiones Pasarela FinTech C2P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$252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$756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$1,344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INGRESOS Y AHORROS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$2,736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$6,648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$10,656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EBITDA OPERATIVO PROYECTADO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$2,331 (85.2%)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$6,008 (90.3%)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$9,816 (92.1%)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DECISIÓN DE FINANCIAMIENTO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Estructura de Capital Privado ($450k) y Plan de Retorno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100% de la inversión asignada a tecnología e IA. Retorno acelerado mediante Revenue Share 75/25.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0175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TRAMO 1: Desembolso Inmediato</a:t>
            </a:r>
          </a:p>
          <a:p>
            <a:pPr>
              <a:spcBef>
                <a:spcPts val="300"/>
              </a:spcBef>
              <a:defRPr sz="1700" b="1">
                <a:solidFill>
                  <a:srgbClr val="E62020"/>
                </a:solidFill>
              </a:defRPr>
            </a:pPr>
            <a:r>
              <a:t>$225.000 USD (50%)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Clúster elástico en la nube y edge CDN.</a:t>
            </a:r>
            <a:br/>
            <a:r>
              <a:t>• Aseguramiento del gateway WhatsApp Enterprise.</a:t>
            </a:r>
            <a:br/>
            <a:r>
              <a:t>• Despliegue de recargas C2P en 12 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30175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TRAMO 2: Mes 2 de Operación</a:t>
            </a:r>
          </a:p>
          <a:p>
            <a:pPr>
              <a:spcBef>
                <a:spcPts val="300"/>
              </a:spcBef>
              <a:defRPr sz="1700" b="1">
                <a:solidFill>
                  <a:srgbClr val="F59E0B"/>
                </a:solidFill>
              </a:defRPr>
            </a:pPr>
            <a:r>
              <a:t>$135.000 USD (30%)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Homologación masiva C2P con 18 bancos.</a:t>
            </a:r>
            <a:br/>
            <a:r>
              <a:t>• Onboarding de 150 comercios en Cazador.</a:t>
            </a:r>
            <a:br/>
            <a:r>
              <a:t>• Motor OCR Gemini Flash para comprobantes.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30175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TRAMO 3: Mes 4 de Operación</a:t>
            </a:r>
          </a:p>
          <a:p>
            <a:pPr>
              <a:spcBef>
                <a:spcPts val="300"/>
              </a:spcBef>
              <a:defRPr sz="1700" b="1">
                <a:solidFill>
                  <a:srgbClr val="10B981"/>
                </a:solidFill>
              </a:defRPr>
            </a:pPr>
            <a:r>
              <a:t>$90.000 USD (20%)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Lanzamiento de Portabilidad Express eSIM.</a:t>
            </a:r>
            <a:br/>
            <a:r>
              <a:t>• Acompañamiento a Tours Movilnet nacionales.</a:t>
            </a:r>
            <a:br/>
            <a:r>
              <a:t>• Reserva operativa de contingencia y expansión.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 MECANISMO WATERFALL DE RETORNO Y GANANCIA DEL INVERSIONISTA</a:t>
            </a:r>
          </a:p>
          <a:p>
            <a:pPr>
              <a:spcBef>
                <a:spcPts val="400"/>
              </a:spcBef>
              <a:defRPr sz="1000">
                <a:solidFill>
                  <a:srgbClr val="D1FAE5"/>
                </a:solidFill>
              </a:defRPr>
            </a:pPr>
            <a:r>
              <a:t>• Fase 1 (Amortización Acelerada): El Inversor retiene el 75% del flujo neto hasta recuperar los $450k + 20% preferente. Payback en 6.2 Meses.</a:t>
            </a:r>
          </a:p>
          <a:p>
            <a:pPr>
              <a:spcBef>
                <a:spcPts val="300"/>
              </a:spcBef>
              <a:defRPr sz="1000">
                <a:solidFill>
                  <a:srgbClr val="D1FAE5"/>
                </a:solidFill>
              </a:defRPr>
            </a:pPr>
            <a:r>
              <a:t>• Fase 2 (Utilidad Recurrente Compartida): Split 50% Inversor / 50% Movilnet. Flujo acumulado a 36 meses: $4.25M USD (ROI 9.4x).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Telecomunicaciones Movilnet C.A.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
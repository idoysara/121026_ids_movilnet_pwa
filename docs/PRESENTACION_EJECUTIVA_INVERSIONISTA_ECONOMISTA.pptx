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E6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2020"/>
                </a:solidFill>
              </a:defRPr>
            </a:pPr>
            <a:r>
              <a:t>COMITÉ DE INVERSIÓN &amp; EVALUACIÓN FINANCIERA — ECONOMISTAS</a:t>
            </a:r>
          </a:p>
          <a:p>
            <a:pPr>
              <a:spcBef>
                <a:spcPts val="800"/>
              </a:spcBef>
              <a:defRPr sz="3300" b="1">
                <a:solidFill>
                  <a:srgbClr val="FFFFFF"/>
                </a:solidFill>
              </a:defRPr>
            </a:pPr>
            <a:r>
              <a:t>Propuesta de Financiamiento Tecnológico MOVI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</a:defRPr>
            </a:pPr>
            <a:r>
              <a:t>Modelo de Alianza: Movilnet Aporta 4.2M Usuarios y Marketing Nacional | Inversión Privada $450k | Payback 6.2 Meses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BASE CAUTIVA</a:t>
            </a:r>
          </a:p>
          <a:p>
            <a:pPr>
              <a:spcBef>
                <a:spcPts val="400"/>
              </a:spcBef>
              <a:defRPr sz="2200" b="1">
                <a:solidFill>
                  <a:srgbClr val="0EA5E9"/>
                </a:solidFill>
              </a:defRPr>
            </a:pPr>
            <a:r>
              <a:t>4.2M Usuarios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Acceso directo inmediato (CAC = $0)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CAPITAL REQUERIDO</a:t>
            </a:r>
          </a:p>
          <a:p>
            <a:pPr>
              <a:spcBef>
                <a:spcPts val="400"/>
              </a:spcBef>
              <a:defRPr sz="2200" b="1">
                <a:solidFill>
                  <a:srgbClr val="F59E0B"/>
                </a:solidFill>
              </a:defRPr>
            </a:pPr>
            <a:r>
              <a:t>$450.000 USD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100% tecnología e IA (3 tramos auditables)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PAYBACK INVERSOR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</a:defRPr>
            </a:pPr>
            <a:r>
              <a:t>6.2 Meses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Revenue Share 75/25 en Fase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TIR ANUAL (IRR)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</a:defRPr>
            </a:pPr>
            <a:r>
              <a:t>74.6%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Flujo recurrente libre de riesgo de demanda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ESTRUCTURA DEL NEGOCIO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Simetría de Aportes: Aporte en Especie vs Capital Privado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Movilnet no aporta fondos económicos en efectivo. El inversor no gasta en publicidad.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E6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150" b="1">
                <a:solidFill>
                  <a:srgbClr val="E62020"/>
                </a:solidFill>
              </a:defRPr>
            </a:pPr>
            <a:r>
              <a:t>🏢 APORTE ESTRATÉGICO DE MOVILNET (CERO FONDOS LÍQUIDOS)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Base Cautiva de 4.2M de Clientes Activos (CAC = $0)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Material POP Nacional (Banderines, Pendones, Habladores en Tiendas)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Tours Movilnet en Regiones, Municipios y Plazas 100% Pagados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Ecosistema Digital: Redes Sociales, Web movilnet.com.ve y SMS Push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Protagonismo Absoluto de MOVI como Imagen Oficial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💼 APORTE DEL INVERSIONISTA (CAPITAL TECNOLÓGICO: $450k)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Infraestructura Cloud Elástica y Edge CDN (Alta Concurrencia)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Motores de Inteligencia Artificial Multimodal (Gemini 2.5 Flash)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Pasarela SUDEBAN C2P Interbancaria (Cobro en 12 Segundos)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Ingeniería SRE 24/7 y Blindaje Criptográfico Zero-PII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Recuperación Acelerada Waterfall: 75% Flujo Neto (Payback 6.2m)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DIAGNÓSTICO MACROECONÓMICO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De Pozo de OPEX ($0.85/ticket) a Activo Digital ($0.0044)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La atención analógica ahoga los márgenes; la IA híbrida diluye el costo unitario a cero.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E6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E62020"/>
                </a:solidFill>
              </a:defRPr>
            </a:pPr>
            <a:r>
              <a:t>❌ Call Center Analógico Humano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$0.85 USD / Llamada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62% del tráfico son consultas rutinarias sin valor comercial.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Tiempos de espera de 7 a 15 min causan fuga de clientes (18% churn).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Costo rígidamente variable: duplicar llamadas duplica la nómina.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Retorno de la interacción: CERO ingresos adicionales.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✅ Asistente MOVI IA Híbrida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$0.0044 USD / Sesión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Ahorro directo del 94.8% en costo unitario por interacción.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Capacidad elástica: 100.000 usuarios simultáneos sin colas.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Recarga Pago Móvil C2P en 12 segundos sin salir de WhatsApp.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Cross-selling activo: coloca Extra Datos y cupones retail.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ACTIVOS CONSTRUIDOS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5 Módulos de Servicios Certificados y Listos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La inversión no financia prototipos de papel; la plataforma cuenta con 540+ tests 100% PASS.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M1: Core OCS &amp; Saldo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Consulta en tiempo real de saldos y megas sin fricción. Elimina 3.1M de llamadas/año.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M2: FinTech C2P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Pasarela interbancaria SUDEBAN. Recargas en 12 segundos con débito automático en cuenta.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M3: Cazador de Ofertas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Radar retail geolocalizado (56 marcas, 204 ofertas). Split comercial 20/80 por cupón.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M4: Visión OCR Bancaria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Inferencia Gemini 2.5 Flash para comprobantes de pago. Cero mano de obra de conciliación.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52578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M5: Retención &amp; EIR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Aseguramiento de terminales y algoritmos de retención ML. Salvamento del 14.5% de clientes.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ECONOMÍA DE ESCALA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La Ley del Costo Marginal Decreciente: CAC = $0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La combinación de Sistema 1 en RAM y Sistema 2 Gemini Flash diluye el costo por usuario a $0.003 USD.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⚡ ARQUITECTURA HÍBRIDA DE CERO DESPERDICIO</a:t>
            </a:r>
          </a:p>
          <a:p>
            <a:pPr>
              <a:spcBef>
                <a:spcPts val="1000"/>
              </a:spcBef>
              <a:defRPr sz="1050" b="1">
                <a:solidFill>
                  <a:srgbClr val="10B981"/>
                </a:solidFill>
              </a:defRPr>
            </a:pPr>
            <a:r>
              <a:t>• 85% de las Solicitudes (Sistema 1 FastPath en RAM):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Consultas de saldo y paquetes resueltos en memoria RAM en &lt;1 ms a CERO costo de tokens ($0.0000 USD).</a:t>
            </a:r>
          </a:p>
          <a:p>
            <a:pPr>
              <a:spcBef>
                <a:spcPts val="1200"/>
              </a:spcBef>
              <a:defRPr sz="1050" b="1">
                <a:solidFill>
                  <a:srgbClr val="A855F7"/>
                </a:solidFill>
              </a:defRPr>
            </a:pPr>
            <a:r>
              <a:t>• 15% Complejo (Sistema 2 Gemini Vision Multimodal):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Solo se activa para auditar comprobantes de pago bancarios y notas de voz con costo de $0.0008 USD.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📉 COSTO POR USUARIO AL ESCALAR (CAC = $0)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t>Base Inicial (100k usuarios): $0.048 USD / mes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t>Base Media (1.5M usuarios): $0.009 USD / mes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t>Base Total (4.2M usuarios): $0.003 USD / mes</a:t>
            </a:r>
          </a:p>
          <a:p>
            <a:pPr>
              <a:spcBef>
                <a:spcPts val="1600"/>
              </a:spcBef>
              <a:defRPr sz="950" i="1">
                <a:solidFill>
                  <a:srgbClr val="94A3B8"/>
                </a:solidFill>
              </a:defRPr>
            </a:pPr>
            <a:r>
              <a:t>Ventaja Insuperable: Con Movilnet absorbiendo el marketing y aportando 4.2M de usuarios, el capital privado obtiene un margen EBITDA &gt;85%.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PRODUCTIVIDAD DEL CAPITAL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Por Qué la IA es la Palanca Financiera (No un Lujo)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La IA sustituye cuellos de botella humanos y acelera la tasa de conversión comercial.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Conciliación Instantánea OCR</a:t>
            </a:r>
          </a:p>
          <a:p>
            <a:pPr>
              <a:spcBef>
                <a:spcPts val="600"/>
              </a:spcBef>
              <a:defRPr sz="1400" b="1">
                <a:solidFill>
                  <a:srgbClr val="0EA5E9"/>
                </a:solidFill>
              </a:defRPr>
            </a:pPr>
            <a:r>
              <a:t>480 Milisegundos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Sustituye a 45 auditores humanos. Procesa comprobantes de Pago Móvil, detecta fraudes y acredita saldo de inmediato.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Cross-Selling Predictivo (NBA)</a:t>
            </a:r>
          </a:p>
          <a:p>
            <a:pPr>
              <a:spcBef>
                <a:spcPts val="600"/>
              </a:spcBef>
              <a:defRPr sz="1400" b="1">
                <a:solidFill>
                  <a:srgbClr val="10B981"/>
                </a:solidFill>
              </a:defRPr>
            </a:pPr>
            <a:r>
              <a:t>Conversión del 8.7%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Ofrece bolsas de Extra Datos cuando restan &lt;200 MB, multiplicando por 7.9x la efectividad respecto al SMS ciego.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Cero Carritos Abandonados</a:t>
            </a:r>
          </a:p>
          <a:p>
            <a:pPr>
              <a:spcBef>
                <a:spcPts val="600"/>
              </a:spcBef>
              <a:defRPr sz="1400" b="1">
                <a:solidFill>
                  <a:srgbClr val="F59E0B"/>
                </a:solidFill>
              </a:defRPr>
            </a:pPr>
            <a:r>
              <a:t>Checkout en 12 Segundos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Flujo de cobro C2P cerrado dentro de WhatsApp sin redirecciones a portales bancarios externos.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Conquista de Competencia</a:t>
            </a:r>
          </a:p>
          <a:p>
            <a:pPr>
              <a:spcBef>
                <a:spcPts val="600"/>
              </a:spcBef>
              <a:defRPr sz="1400" b="1">
                <a:solidFill>
                  <a:srgbClr val="A855F7"/>
                </a:solidFill>
              </a:defRPr>
            </a:pPr>
            <a:r>
              <a:t>120k Nuevas Líneas / Año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Bono Freemium a números 0414/0424 y 0412 con migración digital inmediata a eSIM sin ir a taquilla.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PLAN FINANCIERO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Estado de Resultados Consolidado (36 Meses en Miles USD)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Proyección conservadora impulsada por la masa crítica de 4.2M usuarios y Tours Movilnet.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94560"/>
                <a:gridCol w="2194560"/>
                <a:gridCol w="219456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Renglón Financiero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Año 1 (Adopción)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Año 2 (Escala)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Año 3 (Madurez)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Ahorro Neto OPEX Call Center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$1,224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$2,448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$3,264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Ingresos Venta Extra Datos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$840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$3,360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Comisiones Cupones Cazador (20%)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$420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$1,344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$2,688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Comisiones Pasarela FinTech C2P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$252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$756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$1,344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INGRESOS Y AHORROS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$2,736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$6,648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$10,656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EBITDA OPERATIVO PROYECTADO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$2,331 (85.2%)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$6,008 (90.3%)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$9,816 (92.1%)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ASIGNACIÓN DE CAPITAL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Presupuesto Privado ($450.000 USD) en 3 Tramos Auditables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100% destinado a activos tecnológicos e IA. Desembolsos condicionados a cumplimiento de hitos.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00" b="1">
                <a:solidFill>
                  <a:srgbClr val="E62020"/>
                </a:solidFill>
              </a:defRPr>
            </a:pPr>
            <a:r>
              <a:t>TRAMO 1: Inmediato (50%)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$225.000 USD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Clúster elástico cloud y edge CDN.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Aseguramiento de WhatsApp Enterprise Master.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Despliegue de recargas C2P en 12 segundos.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Validación de 540 tests de arquitectura.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TRAMO 2: Mes 2 (30%)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$135.000 USD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Homologación bancaria C2P con 18 bancos.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Onboarding de 150 comercios aliados en Cazador.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Inferencia OCR Gemini Flash para comprobantes.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Cuponería dinámica TOTP de 60 segundos.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TRAMO 3: Mes 4 (20%)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$90.000 USD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Lanzamiento Portabilidad Express eSIM.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Soporte tecnológico a los Tours Movilnet.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Carrier Billing para deportes y streaming.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Fondo de reserva operativa y contingencia.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RETORNO DEL INVERSIONISTA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Mecanismo Waterfall de Reparto: Payback en 6.2 Meses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Garantía de amortización acelerada del capital con rendimiento preferente y sociedad a largo plazo.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FASE 1: AMORTIZACIÓN ACELERADA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Meses 1 a 6.2 (Recuperación)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El Inversionista retiene el 75% del flujo de nuevos ingresos.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Movilnet recibe el 25% restante y ahorra 100% de su call center.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El capital de $450k + 20% preferente se liquida en el Mes 6.2.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Riesgo de impago nulo gracias a la liquidación interbancaria C2P.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FASE 2: UTILIDAD RECURRENTE COMPARTIDA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Meses 7 en Adelante (Consolidación)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Split Equitativo: 50% Inversionista / 50% Movilnet.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Flujo neto acumulado para el Inversionista: $4.25M USD a 36 meses.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Retorno sobre el capital invertido (ROI): 9.44x.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</a:defRPr>
            </a:pPr>
            <a:r>
              <a:t>• Flujo pasivo perpetuo sobre una base consolidada de 4.2M de usuarios.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DECISIÓN FINAL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Dictamen Financiero Recomendado: Aprobación Tramo 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Asimetría de riesgo positiva: demanda cautiva inmediata, CAC = $0 y 100% de la tecnología lista.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36576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🎯 CONCLUSIÓN Y DICTAMEN DEL EVALUADOR ECONÓMICO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Riesgo Comercial Cero: Movilnet no requiere fondos líquidos y garantiza los 4.2M de usuarios y la presencia física nacional.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Productividad del Capital: Con $450k se captura un flujo EBITDA de $2.3M en el Año 1 y más de $9.8M en el Año 3.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Margen Operativo Bruto &gt;85%: Arquitectura de software con costo marginal que tiende asintóticamente a cero ($0.00018/transacción).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Dictamen Recomendado: APROBACIÓN INMEDIATA DEL TRAMO 1 ($225.000 USD) para iniciar la captura de valor.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Inversionista  |  Telecomunicaciones Movilnet C.A.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